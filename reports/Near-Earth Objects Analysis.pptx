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nva Sans Bold" charset="1" panose="020B0803030501040103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1.png" Type="http://schemas.openxmlformats.org/officeDocument/2006/relationships/image"/><Relationship Id="rId4" Target="../media/image6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2.png" Type="http://schemas.openxmlformats.org/officeDocument/2006/relationships/image"/><Relationship Id="rId4" Target="../embeddings/oleObject2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t="0" r="-22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45915" y="3576956"/>
            <a:ext cx="1601338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</a:t>
            </a:r>
            <a:r>
              <a:rPr lang="en-US" b="true" sz="9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ar-Earth Objects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94783" y="5086350"/>
            <a:ext cx="889843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7ED9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</a:t>
            </a:r>
            <a:r>
              <a:rPr lang="en-US" b="true" sz="2799">
                <a:solidFill>
                  <a:srgbClr val="7ED9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 RISK ASSESSMENT &amp; PLANETARY DEFENSE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3540" y="6327742"/>
            <a:ext cx="298720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ID: G-09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3540" y="7044690"/>
            <a:ext cx="8507212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Krishna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Harshil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Aanya Mehrotra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Aditya Rana 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Parv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Pihu Jaitly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33" r="0" b="-7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840182"/>
            <a:ext cx="2181380" cy="3418118"/>
          </a:xfrm>
          <a:custGeom>
            <a:avLst/>
            <a:gdLst/>
            <a:ahLst/>
            <a:cxnLst/>
            <a:rect r="r" b="b" t="t" l="l"/>
            <a:pathLst>
              <a:path h="3418118" w="2181380">
                <a:moveTo>
                  <a:pt x="0" y="0"/>
                </a:moveTo>
                <a:lnTo>
                  <a:pt x="2181380" y="0"/>
                </a:lnTo>
                <a:lnTo>
                  <a:pt x="2181380" y="3418118"/>
                </a:lnTo>
                <a:lnTo>
                  <a:pt x="0" y="34181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24285" y="726877"/>
            <a:ext cx="7119715" cy="5680822"/>
          </a:xfrm>
          <a:custGeom>
            <a:avLst/>
            <a:gdLst/>
            <a:ahLst/>
            <a:cxnLst/>
            <a:rect r="r" b="b" t="t" l="l"/>
            <a:pathLst>
              <a:path h="5680822" w="7119715">
                <a:moveTo>
                  <a:pt x="0" y="0"/>
                </a:moveTo>
                <a:lnTo>
                  <a:pt x="7119715" y="0"/>
                </a:lnTo>
                <a:lnTo>
                  <a:pt x="7119715" y="5680822"/>
                </a:lnTo>
                <a:lnTo>
                  <a:pt x="0" y="5680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81495" y="6856139"/>
            <a:ext cx="2157684" cy="2952055"/>
          </a:xfrm>
          <a:custGeom>
            <a:avLst/>
            <a:gdLst/>
            <a:ahLst/>
            <a:cxnLst/>
            <a:rect r="r" b="b" t="t" l="l"/>
            <a:pathLst>
              <a:path h="2952055" w="2157684">
                <a:moveTo>
                  <a:pt x="0" y="0"/>
                </a:moveTo>
                <a:lnTo>
                  <a:pt x="2157684" y="0"/>
                </a:lnTo>
                <a:lnTo>
                  <a:pt x="2157684" y="2952055"/>
                </a:lnTo>
                <a:lnTo>
                  <a:pt x="0" y="29520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24285" y="962025"/>
            <a:ext cx="711971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</a:t>
            </a:r>
            <a:r>
              <a:rPr lang="en-US" b="true" sz="3399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anetary Context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71240" y="1625476"/>
            <a:ext cx="6225805" cy="319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20202"/>
                </a:solidFill>
                <a:latin typeface="Canva Sans"/>
                <a:ea typeface="Canva Sans"/>
                <a:cs typeface="Canva Sans"/>
                <a:sym typeface="Canva Sans"/>
              </a:rPr>
              <a:t>Modern sky surveys</a:t>
            </a:r>
            <a:r>
              <a:rPr lang="en-US" sz="2600">
                <a:solidFill>
                  <a:srgbClr val="020202"/>
                </a:solidFill>
                <a:latin typeface="Canva Sans"/>
                <a:ea typeface="Canva Sans"/>
                <a:cs typeface="Canva Sans"/>
                <a:sym typeface="Canva Sans"/>
              </a:rPr>
              <a:t> capture hundreds of astronomical entries daily, identifying large numbers of objects. However, manual parsing of physical parameters introduces tracking bottlenecks for global planetary defense teams.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9540622" y="1682626"/>
            <a:ext cx="7119715" cy="5680822"/>
          </a:xfrm>
          <a:custGeom>
            <a:avLst/>
            <a:gdLst/>
            <a:ahLst/>
            <a:cxnLst/>
            <a:rect r="r" b="b" t="t" l="l"/>
            <a:pathLst>
              <a:path h="5680822" w="7119715">
                <a:moveTo>
                  <a:pt x="7119715" y="0"/>
                </a:moveTo>
                <a:lnTo>
                  <a:pt x="0" y="0"/>
                </a:lnTo>
                <a:lnTo>
                  <a:pt x="0" y="5680822"/>
                </a:lnTo>
                <a:lnTo>
                  <a:pt x="7119715" y="5680822"/>
                </a:lnTo>
                <a:lnTo>
                  <a:pt x="7119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540622" y="1985222"/>
            <a:ext cx="7119715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Problem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71393" y="2648673"/>
            <a:ext cx="6225805" cy="319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20202"/>
                </a:solidFill>
                <a:latin typeface="Canva Sans"/>
                <a:ea typeface="Canva Sans"/>
                <a:cs typeface="Canva Sans"/>
                <a:sym typeface="Canva Sans"/>
              </a:rPr>
              <a:t>Over 80% of targeted tracking records lack precise physical</a:t>
            </a:r>
            <a:r>
              <a:rPr lang="en-US" sz="2600">
                <a:solidFill>
                  <a:srgbClr val="020202"/>
                </a:solidFill>
                <a:latin typeface="Canva Sans"/>
                <a:ea typeface="Canva Sans"/>
                <a:cs typeface="Canva Sans"/>
                <a:sym typeface="Canva Sans"/>
              </a:rPr>
              <a:t> albedo and direct diameter metrics. The core objective for our group is to clean, extract, and statistically prove the leading orbital indicators of high-risk trajectory profiles.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33" r="0" b="-7333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330255" y="2012849"/>
          <a:ext cx="7586157" cy="4274588"/>
        </p:xfrm>
        <a:graphic>
          <a:graphicData uri="http://schemas.openxmlformats.org/presentationml/2006/ole">
            <p:oleObj imgW="9105900" imgH="5791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983632" y="348615"/>
            <a:ext cx="12320736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</a:t>
            </a:r>
            <a:r>
              <a:rPr lang="en-US" b="true" sz="7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Engineering &amp; Pipeline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33" r="0" b="-7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5048" y="3498041"/>
            <a:ext cx="4930906" cy="3298962"/>
            <a:chOff x="0" y="0"/>
            <a:chExt cx="1298675" cy="8688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8675" cy="868862"/>
            </a:xfrm>
            <a:custGeom>
              <a:avLst/>
              <a:gdLst/>
              <a:ahLst/>
              <a:cxnLst/>
              <a:rect r="r" b="b" t="t" l="l"/>
              <a:pathLst>
                <a:path h="868862" w="1298675">
                  <a:moveTo>
                    <a:pt x="80074" y="0"/>
                  </a:moveTo>
                  <a:lnTo>
                    <a:pt x="1218601" y="0"/>
                  </a:lnTo>
                  <a:cubicBezTo>
                    <a:pt x="1239838" y="0"/>
                    <a:pt x="1260205" y="8436"/>
                    <a:pt x="1275222" y="23453"/>
                  </a:cubicBezTo>
                  <a:cubicBezTo>
                    <a:pt x="1290239" y="38470"/>
                    <a:pt x="1298675" y="58837"/>
                    <a:pt x="1298675" y="80074"/>
                  </a:cubicBezTo>
                  <a:lnTo>
                    <a:pt x="1298675" y="788788"/>
                  </a:lnTo>
                  <a:cubicBezTo>
                    <a:pt x="1298675" y="833012"/>
                    <a:pt x="1262824" y="868862"/>
                    <a:pt x="1218601" y="868862"/>
                  </a:cubicBezTo>
                  <a:lnTo>
                    <a:pt x="80074" y="868862"/>
                  </a:lnTo>
                  <a:cubicBezTo>
                    <a:pt x="35850" y="868862"/>
                    <a:pt x="0" y="833012"/>
                    <a:pt x="0" y="788788"/>
                  </a:cubicBezTo>
                  <a:lnTo>
                    <a:pt x="0" y="80074"/>
                  </a:lnTo>
                  <a:cubicBezTo>
                    <a:pt x="0" y="35850"/>
                    <a:pt x="35850" y="0"/>
                    <a:pt x="80074" y="0"/>
                  </a:cubicBezTo>
                  <a:close/>
                </a:path>
              </a:pathLst>
            </a:custGeom>
            <a:solidFill>
              <a:srgbClr val="191818"/>
            </a:solidFill>
            <a:ln w="95250" cap="rnd">
              <a:solidFill>
                <a:srgbClr val="5170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98675" cy="906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243916" y="3675427"/>
            <a:ext cx="773171" cy="773171"/>
          </a:xfrm>
          <a:custGeom>
            <a:avLst/>
            <a:gdLst/>
            <a:ahLst/>
            <a:cxnLst/>
            <a:rect r="r" b="b" t="t" l="l"/>
            <a:pathLst>
              <a:path h="773171" w="773171">
                <a:moveTo>
                  <a:pt x="0" y="0"/>
                </a:moveTo>
                <a:lnTo>
                  <a:pt x="773171" y="0"/>
                </a:lnTo>
                <a:lnTo>
                  <a:pt x="773171" y="773170"/>
                </a:lnTo>
                <a:lnTo>
                  <a:pt x="0" y="7731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680114" y="3494019"/>
            <a:ext cx="4930906" cy="3298962"/>
            <a:chOff x="0" y="0"/>
            <a:chExt cx="1298675" cy="8688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8675" cy="868862"/>
            </a:xfrm>
            <a:custGeom>
              <a:avLst/>
              <a:gdLst/>
              <a:ahLst/>
              <a:cxnLst/>
              <a:rect r="r" b="b" t="t" l="l"/>
              <a:pathLst>
                <a:path h="868862" w="1298675">
                  <a:moveTo>
                    <a:pt x="80074" y="0"/>
                  </a:moveTo>
                  <a:lnTo>
                    <a:pt x="1218601" y="0"/>
                  </a:lnTo>
                  <a:cubicBezTo>
                    <a:pt x="1239838" y="0"/>
                    <a:pt x="1260205" y="8436"/>
                    <a:pt x="1275222" y="23453"/>
                  </a:cubicBezTo>
                  <a:cubicBezTo>
                    <a:pt x="1290239" y="38470"/>
                    <a:pt x="1298675" y="58837"/>
                    <a:pt x="1298675" y="80074"/>
                  </a:cubicBezTo>
                  <a:lnTo>
                    <a:pt x="1298675" y="788788"/>
                  </a:lnTo>
                  <a:cubicBezTo>
                    <a:pt x="1298675" y="833012"/>
                    <a:pt x="1262824" y="868862"/>
                    <a:pt x="1218601" y="868862"/>
                  </a:cubicBezTo>
                  <a:lnTo>
                    <a:pt x="80074" y="868862"/>
                  </a:lnTo>
                  <a:cubicBezTo>
                    <a:pt x="35850" y="868862"/>
                    <a:pt x="0" y="833012"/>
                    <a:pt x="0" y="788788"/>
                  </a:cubicBezTo>
                  <a:lnTo>
                    <a:pt x="0" y="80074"/>
                  </a:lnTo>
                  <a:cubicBezTo>
                    <a:pt x="0" y="35850"/>
                    <a:pt x="35850" y="0"/>
                    <a:pt x="80074" y="0"/>
                  </a:cubicBezTo>
                  <a:close/>
                </a:path>
              </a:pathLst>
            </a:custGeom>
            <a:solidFill>
              <a:srgbClr val="191818"/>
            </a:solidFill>
            <a:ln w="95250" cap="rnd">
              <a:solidFill>
                <a:srgbClr val="5170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98675" cy="906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92045" y="3489996"/>
            <a:ext cx="4930906" cy="3298962"/>
            <a:chOff x="0" y="0"/>
            <a:chExt cx="1298675" cy="8688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8675" cy="868862"/>
            </a:xfrm>
            <a:custGeom>
              <a:avLst/>
              <a:gdLst/>
              <a:ahLst/>
              <a:cxnLst/>
              <a:rect r="r" b="b" t="t" l="l"/>
              <a:pathLst>
                <a:path h="868862" w="1298675">
                  <a:moveTo>
                    <a:pt x="80074" y="0"/>
                  </a:moveTo>
                  <a:lnTo>
                    <a:pt x="1218601" y="0"/>
                  </a:lnTo>
                  <a:cubicBezTo>
                    <a:pt x="1239838" y="0"/>
                    <a:pt x="1260205" y="8436"/>
                    <a:pt x="1275222" y="23453"/>
                  </a:cubicBezTo>
                  <a:cubicBezTo>
                    <a:pt x="1290239" y="38470"/>
                    <a:pt x="1298675" y="58837"/>
                    <a:pt x="1298675" y="80074"/>
                  </a:cubicBezTo>
                  <a:lnTo>
                    <a:pt x="1298675" y="788788"/>
                  </a:lnTo>
                  <a:cubicBezTo>
                    <a:pt x="1298675" y="833012"/>
                    <a:pt x="1262824" y="868862"/>
                    <a:pt x="1218601" y="868862"/>
                  </a:cubicBezTo>
                  <a:lnTo>
                    <a:pt x="80074" y="868862"/>
                  </a:lnTo>
                  <a:cubicBezTo>
                    <a:pt x="35850" y="868862"/>
                    <a:pt x="0" y="833012"/>
                    <a:pt x="0" y="788788"/>
                  </a:cubicBezTo>
                  <a:lnTo>
                    <a:pt x="0" y="80074"/>
                  </a:lnTo>
                  <a:cubicBezTo>
                    <a:pt x="0" y="35850"/>
                    <a:pt x="35850" y="0"/>
                    <a:pt x="80074" y="0"/>
                  </a:cubicBezTo>
                  <a:close/>
                </a:path>
              </a:pathLst>
            </a:custGeom>
            <a:solidFill>
              <a:srgbClr val="191818"/>
            </a:solidFill>
            <a:ln w="95250" cap="rnd">
              <a:solidFill>
                <a:srgbClr val="5170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98675" cy="906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758982" y="3819255"/>
            <a:ext cx="773171" cy="621298"/>
          </a:xfrm>
          <a:custGeom>
            <a:avLst/>
            <a:gdLst/>
            <a:ahLst/>
            <a:cxnLst/>
            <a:rect r="r" b="b" t="t" l="l"/>
            <a:pathLst>
              <a:path h="621298" w="773171">
                <a:moveTo>
                  <a:pt x="0" y="0"/>
                </a:moveTo>
                <a:lnTo>
                  <a:pt x="773171" y="0"/>
                </a:lnTo>
                <a:lnTo>
                  <a:pt x="773171" y="621298"/>
                </a:lnTo>
                <a:lnTo>
                  <a:pt x="0" y="6212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278020" y="3743318"/>
            <a:ext cx="773171" cy="773171"/>
          </a:xfrm>
          <a:custGeom>
            <a:avLst/>
            <a:gdLst/>
            <a:ahLst/>
            <a:cxnLst/>
            <a:rect r="r" b="b" t="t" l="l"/>
            <a:pathLst>
              <a:path h="773171" w="773171">
                <a:moveTo>
                  <a:pt x="0" y="0"/>
                </a:moveTo>
                <a:lnTo>
                  <a:pt x="773171" y="0"/>
                </a:lnTo>
                <a:lnTo>
                  <a:pt x="773171" y="773171"/>
                </a:lnTo>
                <a:lnTo>
                  <a:pt x="0" y="773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025825" y="348615"/>
            <a:ext cx="12236351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KPI &amp; Analytic</a:t>
            </a:r>
            <a:r>
              <a:rPr lang="en-US" b="true" sz="7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 Framework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5682" y="4528820"/>
            <a:ext cx="424963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Minimum Orbit Distance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05682" y="5105400"/>
            <a:ext cx="4590272" cy="143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  <a:spcBef>
                <a:spcPct val="0"/>
              </a:spcBef>
            </a:pPr>
            <a:r>
              <a:rPr lang="en-US" b="true" sz="205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MOID is measured directly to flag when a trajectory breaks orbital safety thresholds.</a:t>
            </a:r>
          </a:p>
          <a:p>
            <a:pPr algn="l">
              <a:lnSpc>
                <a:spcPts val="2875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642031" y="4524797"/>
            <a:ext cx="300707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Lum</a:t>
            </a: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inosity Proxy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20748" y="5101378"/>
            <a:ext cx="4590272" cy="107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  <a:spcBef>
                <a:spcPct val="0"/>
              </a:spcBef>
            </a:pPr>
            <a:r>
              <a:rPr lang="en-US" b="true" sz="205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</a:t>
            </a:r>
            <a:r>
              <a:rPr lang="en-US" b="true" sz="205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solute magnitude (H) acts as a reliable size proxy for physical impact models.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37033" y="4520775"/>
            <a:ext cx="304093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Dy</a:t>
            </a: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namic Velocity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34945" y="5109422"/>
            <a:ext cx="4590272" cy="107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  <a:spcBef>
                <a:spcPct val="0"/>
              </a:spcBef>
            </a:pPr>
            <a:r>
              <a:rPr lang="en-US" b="true" sz="205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</a:t>
            </a:r>
            <a:r>
              <a:rPr lang="en-US" b="true" sz="205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rrelating infinity velocity and direct space speed for consistent traversal metrics.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33" r="0" b="-7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5778" y="2083018"/>
            <a:ext cx="16636444" cy="2446470"/>
            <a:chOff x="0" y="0"/>
            <a:chExt cx="4099712" cy="6028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99712" cy="602883"/>
            </a:xfrm>
            <a:custGeom>
              <a:avLst/>
              <a:gdLst/>
              <a:ahLst/>
              <a:cxnLst/>
              <a:rect r="r" b="b" t="t" l="l"/>
              <a:pathLst>
                <a:path h="602883" w="4099712">
                  <a:moveTo>
                    <a:pt x="23733" y="0"/>
                  </a:moveTo>
                  <a:lnTo>
                    <a:pt x="4075978" y="0"/>
                  </a:lnTo>
                  <a:cubicBezTo>
                    <a:pt x="4089086" y="0"/>
                    <a:pt x="4099712" y="10626"/>
                    <a:pt x="4099712" y="23733"/>
                  </a:cubicBezTo>
                  <a:lnTo>
                    <a:pt x="4099712" y="579149"/>
                  </a:lnTo>
                  <a:cubicBezTo>
                    <a:pt x="4099712" y="585444"/>
                    <a:pt x="4097211" y="591480"/>
                    <a:pt x="4092761" y="595931"/>
                  </a:cubicBezTo>
                  <a:cubicBezTo>
                    <a:pt x="4088310" y="600382"/>
                    <a:pt x="4082273" y="602883"/>
                    <a:pt x="4075978" y="602883"/>
                  </a:cubicBezTo>
                  <a:lnTo>
                    <a:pt x="23733" y="602883"/>
                  </a:lnTo>
                  <a:cubicBezTo>
                    <a:pt x="17439" y="602883"/>
                    <a:pt x="11402" y="600382"/>
                    <a:pt x="6951" y="595931"/>
                  </a:cubicBezTo>
                  <a:cubicBezTo>
                    <a:pt x="2500" y="591480"/>
                    <a:pt x="0" y="585444"/>
                    <a:pt x="0" y="579149"/>
                  </a:cubicBezTo>
                  <a:lnTo>
                    <a:pt x="0" y="23733"/>
                  </a:lnTo>
                  <a:cubicBezTo>
                    <a:pt x="0" y="17439"/>
                    <a:pt x="2500" y="11402"/>
                    <a:pt x="6951" y="6951"/>
                  </a:cubicBezTo>
                  <a:cubicBezTo>
                    <a:pt x="11402" y="2500"/>
                    <a:pt x="17439" y="0"/>
                    <a:pt x="2373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099712" cy="640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74741" y="2473082"/>
            <a:ext cx="15623957" cy="2056406"/>
          </a:xfrm>
          <a:custGeom>
            <a:avLst/>
            <a:gdLst/>
            <a:ahLst/>
            <a:cxnLst/>
            <a:rect r="r" b="b" t="t" l="l"/>
            <a:pathLst>
              <a:path h="2056406" w="15623957">
                <a:moveTo>
                  <a:pt x="0" y="0"/>
                </a:moveTo>
                <a:lnTo>
                  <a:pt x="15623957" y="0"/>
                </a:lnTo>
                <a:lnTo>
                  <a:pt x="15623957" y="2056406"/>
                </a:lnTo>
                <a:lnTo>
                  <a:pt x="0" y="2056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5368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87884" y="8007061"/>
            <a:ext cx="1238675" cy="1694704"/>
          </a:xfrm>
          <a:custGeom>
            <a:avLst/>
            <a:gdLst/>
            <a:ahLst/>
            <a:cxnLst/>
            <a:rect r="r" b="b" t="t" l="l"/>
            <a:pathLst>
              <a:path h="1694704" w="1238675">
                <a:moveTo>
                  <a:pt x="0" y="0"/>
                </a:moveTo>
                <a:lnTo>
                  <a:pt x="1238674" y="0"/>
                </a:lnTo>
                <a:lnTo>
                  <a:pt x="1238674" y="1694704"/>
                </a:lnTo>
                <a:lnTo>
                  <a:pt x="0" y="16947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1719963" y="5037071"/>
            <a:ext cx="4087258" cy="3261224"/>
          </a:xfrm>
          <a:custGeom>
            <a:avLst/>
            <a:gdLst/>
            <a:ahLst/>
            <a:cxnLst/>
            <a:rect r="r" b="b" t="t" l="l"/>
            <a:pathLst>
              <a:path h="3261224" w="4087258">
                <a:moveTo>
                  <a:pt x="4087258" y="0"/>
                </a:moveTo>
                <a:lnTo>
                  <a:pt x="0" y="0"/>
                </a:lnTo>
                <a:lnTo>
                  <a:pt x="0" y="3261224"/>
                </a:lnTo>
                <a:lnTo>
                  <a:pt x="4087258" y="3261224"/>
                </a:lnTo>
                <a:lnTo>
                  <a:pt x="40872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83632" y="348615"/>
            <a:ext cx="12320736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</a:t>
            </a:r>
            <a:r>
              <a:rPr lang="en-US" b="true" sz="7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Engineering &amp; Pipeline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56235" y="5474531"/>
            <a:ext cx="3438128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Exploratory Focus: Aten group trajectories demonstrate the highest risk profile of potential impact hazards. This makes them a priority over Amor class orbits.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33" r="0" b="-7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5048" y="3498041"/>
            <a:ext cx="8159244" cy="4522892"/>
            <a:chOff x="0" y="0"/>
            <a:chExt cx="2148937" cy="11912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48937" cy="1191214"/>
            </a:xfrm>
            <a:custGeom>
              <a:avLst/>
              <a:gdLst/>
              <a:ahLst/>
              <a:cxnLst/>
              <a:rect r="r" b="b" t="t" l="l"/>
              <a:pathLst>
                <a:path h="1191214" w="2148937">
                  <a:moveTo>
                    <a:pt x="48391" y="0"/>
                  </a:moveTo>
                  <a:lnTo>
                    <a:pt x="2100545" y="0"/>
                  </a:lnTo>
                  <a:cubicBezTo>
                    <a:pt x="2127271" y="0"/>
                    <a:pt x="2148937" y="21666"/>
                    <a:pt x="2148937" y="48391"/>
                  </a:cubicBezTo>
                  <a:lnTo>
                    <a:pt x="2148937" y="1142823"/>
                  </a:lnTo>
                  <a:cubicBezTo>
                    <a:pt x="2148937" y="1155657"/>
                    <a:pt x="2143838" y="1167966"/>
                    <a:pt x="2134763" y="1177041"/>
                  </a:cubicBezTo>
                  <a:cubicBezTo>
                    <a:pt x="2125688" y="1186116"/>
                    <a:pt x="2113379" y="1191214"/>
                    <a:pt x="2100545" y="1191214"/>
                  </a:cubicBezTo>
                  <a:lnTo>
                    <a:pt x="48391" y="1191214"/>
                  </a:lnTo>
                  <a:cubicBezTo>
                    <a:pt x="21666" y="1191214"/>
                    <a:pt x="0" y="1169549"/>
                    <a:pt x="0" y="1142823"/>
                  </a:cubicBezTo>
                  <a:lnTo>
                    <a:pt x="0" y="48391"/>
                  </a:lnTo>
                  <a:cubicBezTo>
                    <a:pt x="0" y="35557"/>
                    <a:pt x="5098" y="23249"/>
                    <a:pt x="14174" y="14174"/>
                  </a:cubicBezTo>
                  <a:cubicBezTo>
                    <a:pt x="23249" y="5098"/>
                    <a:pt x="35557" y="0"/>
                    <a:pt x="48391" y="0"/>
                  </a:cubicBezTo>
                  <a:close/>
                </a:path>
              </a:pathLst>
            </a:custGeom>
            <a:solidFill>
              <a:srgbClr val="191818"/>
            </a:solidFill>
            <a:ln w="95250" cap="rnd">
              <a:solidFill>
                <a:srgbClr val="5170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48937" cy="1229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670647" y="3498041"/>
            <a:ext cx="6588653" cy="4522892"/>
            <a:chOff x="0" y="0"/>
            <a:chExt cx="1735283" cy="11912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5283" cy="1191214"/>
            </a:xfrm>
            <a:custGeom>
              <a:avLst/>
              <a:gdLst/>
              <a:ahLst/>
              <a:cxnLst/>
              <a:rect r="r" b="b" t="t" l="l"/>
              <a:pathLst>
                <a:path h="1191214" w="1735283">
                  <a:moveTo>
                    <a:pt x="59927" y="0"/>
                  </a:moveTo>
                  <a:lnTo>
                    <a:pt x="1675356" y="0"/>
                  </a:lnTo>
                  <a:cubicBezTo>
                    <a:pt x="1691250" y="0"/>
                    <a:pt x="1706492" y="6314"/>
                    <a:pt x="1717731" y="17552"/>
                  </a:cubicBezTo>
                  <a:cubicBezTo>
                    <a:pt x="1728969" y="28791"/>
                    <a:pt x="1735283" y="44033"/>
                    <a:pt x="1735283" y="59927"/>
                  </a:cubicBezTo>
                  <a:lnTo>
                    <a:pt x="1735283" y="1131288"/>
                  </a:lnTo>
                  <a:cubicBezTo>
                    <a:pt x="1735283" y="1147181"/>
                    <a:pt x="1728969" y="1162424"/>
                    <a:pt x="1717731" y="1173662"/>
                  </a:cubicBezTo>
                  <a:cubicBezTo>
                    <a:pt x="1706492" y="1184901"/>
                    <a:pt x="1691250" y="1191214"/>
                    <a:pt x="1675356" y="1191214"/>
                  </a:cubicBezTo>
                  <a:lnTo>
                    <a:pt x="59927" y="1191214"/>
                  </a:lnTo>
                  <a:cubicBezTo>
                    <a:pt x="44033" y="1191214"/>
                    <a:pt x="28791" y="1184901"/>
                    <a:pt x="17552" y="1173662"/>
                  </a:cubicBezTo>
                  <a:cubicBezTo>
                    <a:pt x="6314" y="1162424"/>
                    <a:pt x="0" y="1147181"/>
                    <a:pt x="0" y="1131288"/>
                  </a:cubicBezTo>
                  <a:lnTo>
                    <a:pt x="0" y="59927"/>
                  </a:lnTo>
                  <a:cubicBezTo>
                    <a:pt x="0" y="44033"/>
                    <a:pt x="6314" y="28791"/>
                    <a:pt x="17552" y="17552"/>
                  </a:cubicBezTo>
                  <a:cubicBezTo>
                    <a:pt x="28791" y="6314"/>
                    <a:pt x="44033" y="0"/>
                    <a:pt x="59927" y="0"/>
                  </a:cubicBezTo>
                  <a:close/>
                </a:path>
              </a:pathLst>
            </a:custGeom>
            <a:solidFill>
              <a:srgbClr val="191818"/>
            </a:solidFill>
            <a:ln w="95250" cap="rnd">
              <a:solidFill>
                <a:srgbClr val="5170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35283" cy="1229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9" id="9"/>
          <p:cNvGraphicFramePr/>
          <p:nvPr/>
        </p:nvGraphicFramePr>
        <p:xfrm>
          <a:off x="10964682" y="4551034"/>
          <a:ext cx="7543800" cy="3143250"/>
        </p:xfrm>
        <a:graphic>
          <a:graphicData uri="http://schemas.openxmlformats.org/presentationml/2006/ole">
            <p:oleObj imgW="9042400" imgH="4648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426315" y="3837033"/>
            <a:ext cx="392310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 F</a:t>
            </a: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indings from EDA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6315" y="4633117"/>
            <a:ext cx="7717685" cy="299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Derived from the 03_eda.ipynb analysis workbook: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94% Rule: Filtering out objects with a MOID &gt; 0.05 AU instantly removes 93.83% of the catalog as low risk.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Class Variance: The Aten group demonstrates the highest relative risk, with 5.93% of tracked objects flagged as potentially hazardous.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Extreme Skewness: The $H$ magnitude parameter has a strong right skew, highlighting that the catalog is heavily populated by small objects.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02002" y="3837033"/>
            <a:ext cx="393769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Orbit Clas</a:t>
            </a: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 Breakdown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2217" y="366353"/>
            <a:ext cx="15824151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Advanced</a:t>
            </a:r>
            <a:r>
              <a:rPr lang="en-US" b="true" sz="7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Analysis: Statistical Inference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33" r="0" b="-7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88582" y="2163496"/>
            <a:ext cx="9782706" cy="5702236"/>
          </a:xfrm>
          <a:custGeom>
            <a:avLst/>
            <a:gdLst/>
            <a:ahLst/>
            <a:cxnLst/>
            <a:rect r="r" b="b" t="t" l="l"/>
            <a:pathLst>
              <a:path h="5702236" w="9782706">
                <a:moveTo>
                  <a:pt x="0" y="0"/>
                </a:moveTo>
                <a:lnTo>
                  <a:pt x="9782706" y="0"/>
                </a:lnTo>
                <a:lnTo>
                  <a:pt x="9782706" y="5702236"/>
                </a:lnTo>
                <a:lnTo>
                  <a:pt x="0" y="57022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82" t="-5610" r="0" b="-6553"/>
            </a:stretch>
          </a:blipFill>
          <a:ln w="38100" cap="sq">
            <a:solidFill>
              <a:srgbClr val="302F2F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4442743" y="348615"/>
            <a:ext cx="9402514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Tableau Walkth</a:t>
            </a:r>
            <a:r>
              <a:rPr lang="en-US" b="true" sz="7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rough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8613" y="2745423"/>
            <a:ext cx="7229841" cy="422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4-Dashboard Integrated Design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interactive dashboard provides analytical views for both strategic and operational tracking: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NEA Executive Overview: High-level summaries of hazard counts and orbital class trends for quick scanning.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Orbital Mechanics Deep Dive: Drill-down scatter plots comparing orbital eccentricity and the semi-major axis.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Historical &amp; Future Forecasting: Tracks past and future flyby trends based on distance and speed.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33" r="0" b="-7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10123" y="348615"/>
            <a:ext cx="13467755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Actionable Recommendati</a:t>
            </a:r>
            <a:r>
              <a:rPr lang="en-US" b="true" sz="7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36364"/>
            <a:ext cx="6289707" cy="76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4"/>
              </a:lnSpc>
              <a:spcBef>
                <a:spcPct val="0"/>
              </a:spcBef>
            </a:pPr>
            <a:r>
              <a:rPr lang="en-US" b="true" sz="448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 F</a:t>
            </a:r>
            <a:r>
              <a:rPr lang="en-US" b="true" sz="448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indings from EDA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2974654"/>
            <a:ext cx="9281156" cy="3236992"/>
            <a:chOff x="0" y="0"/>
            <a:chExt cx="2444420" cy="8525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4420" cy="852541"/>
            </a:xfrm>
            <a:custGeom>
              <a:avLst/>
              <a:gdLst/>
              <a:ahLst/>
              <a:cxnLst/>
              <a:rect r="r" b="b" t="t" l="l"/>
              <a:pathLst>
                <a:path h="852541" w="2444420">
                  <a:moveTo>
                    <a:pt x="42542" y="0"/>
                  </a:moveTo>
                  <a:lnTo>
                    <a:pt x="2401878" y="0"/>
                  </a:lnTo>
                  <a:cubicBezTo>
                    <a:pt x="2425373" y="0"/>
                    <a:pt x="2444420" y="19047"/>
                    <a:pt x="2444420" y="42542"/>
                  </a:cubicBezTo>
                  <a:lnTo>
                    <a:pt x="2444420" y="809999"/>
                  </a:lnTo>
                  <a:cubicBezTo>
                    <a:pt x="2444420" y="821282"/>
                    <a:pt x="2439938" y="832103"/>
                    <a:pt x="2431960" y="840081"/>
                  </a:cubicBezTo>
                  <a:cubicBezTo>
                    <a:pt x="2423982" y="848059"/>
                    <a:pt x="2413161" y="852541"/>
                    <a:pt x="2401878" y="852541"/>
                  </a:cubicBezTo>
                  <a:lnTo>
                    <a:pt x="42542" y="852541"/>
                  </a:lnTo>
                  <a:cubicBezTo>
                    <a:pt x="31259" y="852541"/>
                    <a:pt x="20438" y="848059"/>
                    <a:pt x="12460" y="840081"/>
                  </a:cubicBezTo>
                  <a:cubicBezTo>
                    <a:pt x="4482" y="832103"/>
                    <a:pt x="0" y="821282"/>
                    <a:pt x="0" y="809999"/>
                  </a:cubicBezTo>
                  <a:lnTo>
                    <a:pt x="0" y="42542"/>
                  </a:lnTo>
                  <a:cubicBezTo>
                    <a:pt x="0" y="31259"/>
                    <a:pt x="4482" y="20438"/>
                    <a:pt x="12460" y="12460"/>
                  </a:cubicBezTo>
                  <a:cubicBezTo>
                    <a:pt x="20438" y="4482"/>
                    <a:pt x="31259" y="0"/>
                    <a:pt x="42542" y="0"/>
                  </a:cubicBezTo>
                  <a:close/>
                </a:path>
              </a:pathLst>
            </a:custGeom>
            <a:solidFill>
              <a:srgbClr val="191818"/>
            </a:solidFill>
            <a:ln w="95250" cap="rnd">
              <a:solidFill>
                <a:srgbClr val="5170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44420" cy="890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24494" y="3193205"/>
            <a:ext cx="9588458" cy="2459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4"/>
              </a:lnSpc>
              <a:spcBef>
                <a:spcPct val="0"/>
              </a:spcBef>
            </a:pPr>
            <a:r>
              <a:rPr lang="en-US" b="true" sz="264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264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ecommendation 1</a:t>
            </a:r>
          </a:p>
          <a:p>
            <a:pPr algn="l">
              <a:lnSpc>
                <a:spcPts val="3704"/>
              </a:lnSpc>
              <a:spcBef>
                <a:spcPct val="0"/>
              </a:spcBef>
            </a:pPr>
          </a:p>
          <a:p>
            <a:pPr algn="l">
              <a:lnSpc>
                <a:spcPts val="3704"/>
              </a:lnSpc>
            </a:pPr>
            <a:r>
              <a:rPr lang="en-US" b="true" sz="2646">
                <a:solidFill>
                  <a:srgbClr val="7ED9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Insight:</a:t>
            </a:r>
            <a:r>
              <a:rPr lang="en-US" b="true" sz="2646">
                <a:solidFill>
                  <a:srgbClr val="7ED9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93.83% of objects have a MOID &gt; 0.05 AU.</a:t>
            </a:r>
          </a:p>
          <a:p>
            <a:pPr algn="l">
              <a:lnSpc>
                <a:spcPts val="3704"/>
              </a:lnSpc>
            </a:pPr>
          </a:p>
          <a:p>
            <a:pPr algn="l">
              <a:lnSpc>
                <a:spcPts val="2380"/>
              </a:lnSpc>
            </a:pPr>
            <a:r>
              <a:rPr lang="en-US" b="true" sz="17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Action: Set up early filtering thresholds at 0.05 AU to immediately exclude low-risk trajectory data and reduce analytical overhead.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6583121"/>
            <a:ext cx="9281156" cy="3236992"/>
            <a:chOff x="0" y="0"/>
            <a:chExt cx="2444420" cy="8525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4420" cy="852541"/>
            </a:xfrm>
            <a:custGeom>
              <a:avLst/>
              <a:gdLst/>
              <a:ahLst/>
              <a:cxnLst/>
              <a:rect r="r" b="b" t="t" l="l"/>
              <a:pathLst>
                <a:path h="852541" w="2444420">
                  <a:moveTo>
                    <a:pt x="42542" y="0"/>
                  </a:moveTo>
                  <a:lnTo>
                    <a:pt x="2401878" y="0"/>
                  </a:lnTo>
                  <a:cubicBezTo>
                    <a:pt x="2425373" y="0"/>
                    <a:pt x="2444420" y="19047"/>
                    <a:pt x="2444420" y="42542"/>
                  </a:cubicBezTo>
                  <a:lnTo>
                    <a:pt x="2444420" y="809999"/>
                  </a:lnTo>
                  <a:cubicBezTo>
                    <a:pt x="2444420" y="821282"/>
                    <a:pt x="2439938" y="832103"/>
                    <a:pt x="2431960" y="840081"/>
                  </a:cubicBezTo>
                  <a:cubicBezTo>
                    <a:pt x="2423982" y="848059"/>
                    <a:pt x="2413161" y="852541"/>
                    <a:pt x="2401878" y="852541"/>
                  </a:cubicBezTo>
                  <a:lnTo>
                    <a:pt x="42542" y="852541"/>
                  </a:lnTo>
                  <a:cubicBezTo>
                    <a:pt x="31259" y="852541"/>
                    <a:pt x="20438" y="848059"/>
                    <a:pt x="12460" y="840081"/>
                  </a:cubicBezTo>
                  <a:cubicBezTo>
                    <a:pt x="4482" y="832103"/>
                    <a:pt x="0" y="821282"/>
                    <a:pt x="0" y="809999"/>
                  </a:cubicBezTo>
                  <a:lnTo>
                    <a:pt x="0" y="42542"/>
                  </a:lnTo>
                  <a:cubicBezTo>
                    <a:pt x="0" y="31259"/>
                    <a:pt x="4482" y="20438"/>
                    <a:pt x="12460" y="12460"/>
                  </a:cubicBezTo>
                  <a:cubicBezTo>
                    <a:pt x="20438" y="4482"/>
                    <a:pt x="31259" y="0"/>
                    <a:pt x="42542" y="0"/>
                  </a:cubicBezTo>
                  <a:close/>
                </a:path>
              </a:pathLst>
            </a:custGeom>
            <a:solidFill>
              <a:srgbClr val="191818"/>
            </a:solidFill>
            <a:ln w="95250" cap="rnd">
              <a:solidFill>
                <a:srgbClr val="5170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44420" cy="890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24494" y="6801672"/>
            <a:ext cx="9588458" cy="2459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4"/>
              </a:lnSpc>
              <a:spcBef>
                <a:spcPct val="0"/>
              </a:spcBef>
            </a:pPr>
            <a:r>
              <a:rPr lang="en-US" b="true" sz="264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264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ecommendation 2</a:t>
            </a:r>
          </a:p>
          <a:p>
            <a:pPr algn="l">
              <a:lnSpc>
                <a:spcPts val="3704"/>
              </a:lnSpc>
              <a:spcBef>
                <a:spcPct val="0"/>
              </a:spcBef>
            </a:pPr>
          </a:p>
          <a:p>
            <a:pPr algn="l">
              <a:lnSpc>
                <a:spcPts val="3704"/>
              </a:lnSpc>
            </a:pPr>
            <a:r>
              <a:rPr lang="en-US" b="true" sz="2646">
                <a:solidFill>
                  <a:srgbClr val="7ED9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Insight:</a:t>
            </a:r>
            <a:r>
              <a:rPr lang="en-US" b="true" sz="2646">
                <a:solidFill>
                  <a:srgbClr val="7ED9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80% of small records lack albedo metrics.</a:t>
            </a:r>
          </a:p>
          <a:p>
            <a:pPr algn="l">
              <a:lnSpc>
                <a:spcPts val="3704"/>
              </a:lnSpc>
            </a:pPr>
          </a:p>
          <a:p>
            <a:pPr algn="l">
              <a:lnSpc>
                <a:spcPts val="2380"/>
              </a:lnSpc>
            </a:pPr>
            <a:r>
              <a:rPr lang="en-US" b="true" sz="17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Action: Use median magnitude calculations as the standard size proxy to prevent measurement delays.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912952" y="2974654"/>
            <a:ext cx="7046153" cy="6845459"/>
            <a:chOff x="0" y="0"/>
            <a:chExt cx="1855777" cy="18029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55777" cy="1802919"/>
            </a:xfrm>
            <a:custGeom>
              <a:avLst/>
              <a:gdLst/>
              <a:ahLst/>
              <a:cxnLst/>
              <a:rect r="r" b="b" t="t" l="l"/>
              <a:pathLst>
                <a:path h="1802919" w="1855777">
                  <a:moveTo>
                    <a:pt x="56036" y="0"/>
                  </a:moveTo>
                  <a:lnTo>
                    <a:pt x="1799741" y="0"/>
                  </a:lnTo>
                  <a:cubicBezTo>
                    <a:pt x="1814603" y="0"/>
                    <a:pt x="1828856" y="5904"/>
                    <a:pt x="1839364" y="16413"/>
                  </a:cubicBezTo>
                  <a:cubicBezTo>
                    <a:pt x="1849873" y="26921"/>
                    <a:pt x="1855777" y="41174"/>
                    <a:pt x="1855777" y="56036"/>
                  </a:cubicBezTo>
                  <a:lnTo>
                    <a:pt x="1855777" y="1746883"/>
                  </a:lnTo>
                  <a:cubicBezTo>
                    <a:pt x="1855777" y="1761745"/>
                    <a:pt x="1849873" y="1775998"/>
                    <a:pt x="1839364" y="1786506"/>
                  </a:cubicBezTo>
                  <a:cubicBezTo>
                    <a:pt x="1828856" y="1797015"/>
                    <a:pt x="1814603" y="1802919"/>
                    <a:pt x="1799741" y="1802919"/>
                  </a:cubicBezTo>
                  <a:lnTo>
                    <a:pt x="56036" y="1802919"/>
                  </a:lnTo>
                  <a:cubicBezTo>
                    <a:pt x="41174" y="1802919"/>
                    <a:pt x="26921" y="1797015"/>
                    <a:pt x="16413" y="1786506"/>
                  </a:cubicBezTo>
                  <a:cubicBezTo>
                    <a:pt x="5904" y="1775998"/>
                    <a:pt x="0" y="1761745"/>
                    <a:pt x="0" y="1746883"/>
                  </a:cubicBezTo>
                  <a:lnTo>
                    <a:pt x="0" y="56036"/>
                  </a:lnTo>
                  <a:cubicBezTo>
                    <a:pt x="0" y="41174"/>
                    <a:pt x="5904" y="26921"/>
                    <a:pt x="16413" y="16413"/>
                  </a:cubicBezTo>
                  <a:cubicBezTo>
                    <a:pt x="26921" y="5904"/>
                    <a:pt x="41174" y="0"/>
                    <a:pt x="56036" y="0"/>
                  </a:cubicBezTo>
                  <a:close/>
                </a:path>
              </a:pathLst>
            </a:custGeom>
            <a:solidFill>
              <a:srgbClr val="191818"/>
            </a:solidFill>
            <a:ln w="95250" cap="rnd">
              <a:solidFill>
                <a:srgbClr val="5170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855777" cy="1841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177257" y="4696165"/>
            <a:ext cx="6517543" cy="3716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3"/>
              </a:lnSpc>
              <a:spcBef>
                <a:spcPct val="0"/>
              </a:spcBef>
            </a:pPr>
            <a:r>
              <a:rPr lang="en-US" b="true" sz="266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266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ecommendation 3</a:t>
            </a:r>
          </a:p>
          <a:p>
            <a:pPr algn="l">
              <a:lnSpc>
                <a:spcPts val="3733"/>
              </a:lnSpc>
              <a:spcBef>
                <a:spcPct val="0"/>
              </a:spcBef>
            </a:pPr>
          </a:p>
          <a:p>
            <a:pPr algn="l">
              <a:lnSpc>
                <a:spcPts val="3733"/>
              </a:lnSpc>
            </a:pPr>
            <a:r>
              <a:rPr lang="en-US" b="true" sz="2667">
                <a:solidFill>
                  <a:srgbClr val="7ED9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Insight:</a:t>
            </a:r>
            <a:r>
              <a:rPr lang="en-US" b="true" sz="2667">
                <a:solidFill>
                  <a:srgbClr val="7ED9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The Aten group demonstrates the highest relative class hazard proportion.</a:t>
            </a:r>
          </a:p>
          <a:p>
            <a:pPr algn="l">
              <a:lnSpc>
                <a:spcPts val="3733"/>
              </a:lnSpc>
            </a:pPr>
          </a:p>
          <a:p>
            <a:pPr algn="l">
              <a:lnSpc>
                <a:spcPts val="2398"/>
              </a:lnSpc>
            </a:pPr>
            <a:r>
              <a:rPr lang="en-US" b="true" sz="171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Action: Direct observation resources to prioritize the Aten group over Amor and other lower-risk classes.</a:t>
            </a:r>
          </a:p>
          <a:p>
            <a:pPr algn="l">
              <a:lnSpc>
                <a:spcPts val="2398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33" r="0" b="-7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68551" y="348615"/>
            <a:ext cx="10750897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Modeled Project Impact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121798" y="2974654"/>
            <a:ext cx="4581761" cy="2714114"/>
            <a:chOff x="0" y="0"/>
            <a:chExt cx="1206719" cy="7148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06719" cy="714828"/>
            </a:xfrm>
            <a:custGeom>
              <a:avLst/>
              <a:gdLst/>
              <a:ahLst/>
              <a:cxnLst/>
              <a:rect r="r" b="b" t="t" l="l"/>
              <a:pathLst>
                <a:path h="714828" w="1206719">
                  <a:moveTo>
                    <a:pt x="86176" y="0"/>
                  </a:moveTo>
                  <a:lnTo>
                    <a:pt x="1120543" y="0"/>
                  </a:lnTo>
                  <a:cubicBezTo>
                    <a:pt x="1168137" y="0"/>
                    <a:pt x="1206719" y="38582"/>
                    <a:pt x="1206719" y="86176"/>
                  </a:cubicBezTo>
                  <a:lnTo>
                    <a:pt x="1206719" y="628652"/>
                  </a:lnTo>
                  <a:cubicBezTo>
                    <a:pt x="1206719" y="676246"/>
                    <a:pt x="1168137" y="714828"/>
                    <a:pt x="1120543" y="714828"/>
                  </a:cubicBezTo>
                  <a:lnTo>
                    <a:pt x="86176" y="714828"/>
                  </a:lnTo>
                  <a:cubicBezTo>
                    <a:pt x="38582" y="714828"/>
                    <a:pt x="0" y="676246"/>
                    <a:pt x="0" y="628652"/>
                  </a:cubicBezTo>
                  <a:lnTo>
                    <a:pt x="0" y="86176"/>
                  </a:lnTo>
                  <a:cubicBezTo>
                    <a:pt x="0" y="38582"/>
                    <a:pt x="38582" y="0"/>
                    <a:pt x="86176" y="0"/>
                  </a:cubicBezTo>
                  <a:close/>
                </a:path>
              </a:pathLst>
            </a:custGeom>
            <a:solidFill>
              <a:srgbClr val="191818"/>
            </a:solidFill>
            <a:ln w="95250" cap="rnd">
              <a:solidFill>
                <a:srgbClr val="5170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06719" cy="7529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681507" y="3414163"/>
            <a:ext cx="4430029" cy="203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E5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93.8%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Filtered Low-Risk Entries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9937688" y="2974654"/>
            <a:ext cx="4581761" cy="2714114"/>
            <a:chOff x="0" y="0"/>
            <a:chExt cx="1206719" cy="7148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6719" cy="714828"/>
            </a:xfrm>
            <a:custGeom>
              <a:avLst/>
              <a:gdLst/>
              <a:ahLst/>
              <a:cxnLst/>
              <a:rect r="r" b="b" t="t" l="l"/>
              <a:pathLst>
                <a:path h="714828" w="1206719">
                  <a:moveTo>
                    <a:pt x="86176" y="0"/>
                  </a:moveTo>
                  <a:lnTo>
                    <a:pt x="1120543" y="0"/>
                  </a:lnTo>
                  <a:cubicBezTo>
                    <a:pt x="1168137" y="0"/>
                    <a:pt x="1206719" y="38582"/>
                    <a:pt x="1206719" y="86176"/>
                  </a:cubicBezTo>
                  <a:lnTo>
                    <a:pt x="1206719" y="628652"/>
                  </a:lnTo>
                  <a:cubicBezTo>
                    <a:pt x="1206719" y="676246"/>
                    <a:pt x="1168137" y="714828"/>
                    <a:pt x="1120543" y="714828"/>
                  </a:cubicBezTo>
                  <a:lnTo>
                    <a:pt x="86176" y="714828"/>
                  </a:lnTo>
                  <a:cubicBezTo>
                    <a:pt x="38582" y="714828"/>
                    <a:pt x="0" y="676246"/>
                    <a:pt x="0" y="628652"/>
                  </a:cubicBezTo>
                  <a:lnTo>
                    <a:pt x="0" y="86176"/>
                  </a:lnTo>
                  <a:cubicBezTo>
                    <a:pt x="0" y="38582"/>
                    <a:pt x="38582" y="0"/>
                    <a:pt x="86176" y="0"/>
                  </a:cubicBezTo>
                  <a:close/>
                </a:path>
              </a:pathLst>
            </a:custGeom>
            <a:solidFill>
              <a:srgbClr val="191818"/>
            </a:solidFill>
            <a:ln w="95250" cap="rnd">
              <a:solidFill>
                <a:srgbClr val="5170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06719" cy="7529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513489" y="3282753"/>
            <a:ext cx="4465505" cy="2406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true">
                <a:solidFill>
                  <a:srgbClr val="00E5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Hours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</a:t>
            </a: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tead of Weeks in Alert Processing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243872" y="6507155"/>
            <a:ext cx="13800256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filtering out objects with a MOID above 0.05 AU, exactly **38,611 out of 41,150** records can be safely classified as low risk. This allows tracking assets to focus on the 6.17% of higher-risk objects, speeding up emergency alert response times.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33" r="0" b="-7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8963" y="348615"/>
            <a:ext cx="12030075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Limitations &amp; Future Scope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65048" y="3498041"/>
            <a:ext cx="8159244" cy="3866582"/>
            <a:chOff x="0" y="0"/>
            <a:chExt cx="2148937" cy="10183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8937" cy="1018359"/>
            </a:xfrm>
            <a:custGeom>
              <a:avLst/>
              <a:gdLst/>
              <a:ahLst/>
              <a:cxnLst/>
              <a:rect r="r" b="b" t="t" l="l"/>
              <a:pathLst>
                <a:path h="1018359" w="2148937">
                  <a:moveTo>
                    <a:pt x="48391" y="0"/>
                  </a:moveTo>
                  <a:lnTo>
                    <a:pt x="2100545" y="0"/>
                  </a:lnTo>
                  <a:cubicBezTo>
                    <a:pt x="2127271" y="0"/>
                    <a:pt x="2148937" y="21666"/>
                    <a:pt x="2148937" y="48391"/>
                  </a:cubicBezTo>
                  <a:lnTo>
                    <a:pt x="2148937" y="969968"/>
                  </a:lnTo>
                  <a:cubicBezTo>
                    <a:pt x="2148937" y="982802"/>
                    <a:pt x="2143838" y="995110"/>
                    <a:pt x="2134763" y="1004186"/>
                  </a:cubicBezTo>
                  <a:cubicBezTo>
                    <a:pt x="2125688" y="1013261"/>
                    <a:pt x="2113379" y="1018359"/>
                    <a:pt x="2100545" y="1018359"/>
                  </a:cubicBezTo>
                  <a:lnTo>
                    <a:pt x="48391" y="1018359"/>
                  </a:lnTo>
                  <a:cubicBezTo>
                    <a:pt x="21666" y="1018359"/>
                    <a:pt x="0" y="996693"/>
                    <a:pt x="0" y="969968"/>
                  </a:cubicBezTo>
                  <a:lnTo>
                    <a:pt x="0" y="48391"/>
                  </a:lnTo>
                  <a:cubicBezTo>
                    <a:pt x="0" y="35557"/>
                    <a:pt x="5098" y="23249"/>
                    <a:pt x="14174" y="14174"/>
                  </a:cubicBezTo>
                  <a:cubicBezTo>
                    <a:pt x="23249" y="5098"/>
                    <a:pt x="35557" y="0"/>
                    <a:pt x="48391" y="0"/>
                  </a:cubicBezTo>
                  <a:close/>
                </a:path>
              </a:pathLst>
            </a:custGeom>
            <a:solidFill>
              <a:srgbClr val="191818"/>
            </a:solidFill>
            <a:ln w="95250" cap="rnd">
              <a:solidFill>
                <a:srgbClr val="5170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8937" cy="10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29750" y="3992038"/>
            <a:ext cx="7229841" cy="315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b="true" sz="3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onstraints &amp; Data Gaps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</a:t>
            </a: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current analysis relies on a static snapshot in time and lacks real-time orbital telemetry updates.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addition, missing albedo values limit the precision of true physical diameter estimates, requiring a continued reliance on $H$ magnitude as a proxy.</a:t>
            </a:r>
          </a:p>
          <a:p>
            <a:pPr algn="l">
              <a:lnSpc>
                <a:spcPts val="294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9654364" y="3498041"/>
            <a:ext cx="8159244" cy="3866582"/>
            <a:chOff x="0" y="0"/>
            <a:chExt cx="2148937" cy="10183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8937" cy="1018359"/>
            </a:xfrm>
            <a:custGeom>
              <a:avLst/>
              <a:gdLst/>
              <a:ahLst/>
              <a:cxnLst/>
              <a:rect r="r" b="b" t="t" l="l"/>
              <a:pathLst>
                <a:path h="1018359" w="2148937">
                  <a:moveTo>
                    <a:pt x="48391" y="0"/>
                  </a:moveTo>
                  <a:lnTo>
                    <a:pt x="2100545" y="0"/>
                  </a:lnTo>
                  <a:cubicBezTo>
                    <a:pt x="2127271" y="0"/>
                    <a:pt x="2148937" y="21666"/>
                    <a:pt x="2148937" y="48391"/>
                  </a:cubicBezTo>
                  <a:lnTo>
                    <a:pt x="2148937" y="969968"/>
                  </a:lnTo>
                  <a:cubicBezTo>
                    <a:pt x="2148937" y="982802"/>
                    <a:pt x="2143838" y="995110"/>
                    <a:pt x="2134763" y="1004186"/>
                  </a:cubicBezTo>
                  <a:cubicBezTo>
                    <a:pt x="2125688" y="1013261"/>
                    <a:pt x="2113379" y="1018359"/>
                    <a:pt x="2100545" y="1018359"/>
                  </a:cubicBezTo>
                  <a:lnTo>
                    <a:pt x="48391" y="1018359"/>
                  </a:lnTo>
                  <a:cubicBezTo>
                    <a:pt x="21666" y="1018359"/>
                    <a:pt x="0" y="996693"/>
                    <a:pt x="0" y="969968"/>
                  </a:cubicBezTo>
                  <a:lnTo>
                    <a:pt x="0" y="48391"/>
                  </a:lnTo>
                  <a:cubicBezTo>
                    <a:pt x="0" y="35557"/>
                    <a:pt x="5098" y="23249"/>
                    <a:pt x="14174" y="14174"/>
                  </a:cubicBezTo>
                  <a:cubicBezTo>
                    <a:pt x="23249" y="5098"/>
                    <a:pt x="35557" y="0"/>
                    <a:pt x="48391" y="0"/>
                  </a:cubicBezTo>
                  <a:close/>
                </a:path>
              </a:pathLst>
            </a:custGeom>
            <a:solidFill>
              <a:srgbClr val="191818"/>
            </a:solidFill>
            <a:ln w="95250" cap="rnd">
              <a:solidFill>
                <a:srgbClr val="5170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48937" cy="10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029459" y="3806301"/>
            <a:ext cx="7229841" cy="3895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Roadmap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evelop high-performance classification algorithms (such as Random Forests) to automate hazard detection.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 also aim to use machine learning imputation models to estimate missing albedo and diameter metrics, moving beyond standard median substitutions.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33" r="0" b="-7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12198" y="4274503"/>
            <a:ext cx="586360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DAHIqQpJCdQ</dc:identifier>
  <dcterms:modified xsi:type="dcterms:W3CDTF">2011-08-01T06:04:30Z</dcterms:modified>
  <cp:revision>1</cp:revision>
  <dc:title>Near-Earth Objects Analysis</dc:title>
</cp:coreProperties>
</file>